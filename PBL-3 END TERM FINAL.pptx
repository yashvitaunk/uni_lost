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71" r:id="rId6"/>
    <p:sldId id="273" r:id="rId7"/>
    <p:sldId id="274" r:id="rId8"/>
    <p:sldId id="276" r:id="rId9"/>
    <p:sldId id="261" r:id="rId10"/>
    <p:sldId id="266" r:id="rId11"/>
    <p:sldId id="267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C469F-00FF-0F59-FDD5-905B7380E58A}" v="7" dt="2025-11-19T04:48:53.445"/>
    <p1510:client id="{DD5D3F98-BC73-2089-08FE-854E2D676A45}" v="57" dt="2025-11-20T05:39:46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F1EAD-ACC1-470E-96D3-3548616D9F72}" type="datetimeFigureOut"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B22A0-C286-4185-99BE-5D25B265C8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1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92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2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31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99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9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614" y="2475046"/>
            <a:ext cx="9366250" cy="1517944"/>
          </a:xfrm>
        </p:spPr>
        <p:txBody>
          <a:bodyPr>
            <a:normAutofit/>
          </a:bodyPr>
          <a:lstStyle/>
          <a:p>
            <a:r>
              <a:rPr lang="en-IN" dirty="0"/>
              <a:t>UNI LOST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Yashvi Taunk</a:t>
            </a:r>
          </a:p>
          <a:p>
            <a:r>
              <a:rPr lang="en-IN" dirty="0"/>
              <a:t>23FE10CSE00634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</a:p>
          <a:p>
            <a:r>
              <a:rPr lang="en-IN" dirty="0"/>
              <a:t>Ms. Harshika Mathur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9672" y="546001"/>
            <a:ext cx="6520656" cy="98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33"/>
              </a:lnSpc>
              <a:buNone/>
            </a:pPr>
            <a:endParaRPr lang="en-US" sz="3050" b="1" dirty="0">
              <a:solidFill>
                <a:srgbClr val="006747"/>
              </a:solidFill>
              <a:latin typeface="Noto Serif SC 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9672" y="1763018"/>
            <a:ext cx="3181846" cy="2193032"/>
          </a:xfrm>
          <a:prstGeom prst="roundRect">
            <a:avLst>
              <a:gd name="adj" fmla="val 417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30622" y="1763018"/>
            <a:ext cx="76200" cy="2193032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2836" y="1939032"/>
            <a:ext cx="196324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Frequent Item Loss</a:t>
            </a:r>
            <a:endParaRPr lang="en-US" sz="1800" dirty="0">
              <a:latin typeface="Noto Serif SC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2836" y="2405559"/>
            <a:ext cx="2772668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400" dirty="0">
                <a:latin typeface="Geist"/>
                <a:ea typeface="Geist" pitchFamily="34" charset="-122"/>
                <a:cs typeface="Geist" pitchFamily="34" charset="-120"/>
              </a:rPr>
              <a:t>College students frequently lose important items such as ID cards, wallets, essential books, and expensive gadgets, leading to immediate stress and disruption.</a:t>
            </a:r>
            <a:endParaRPr lang="en-US" sz="1400" dirty="0">
              <a:latin typeface="Geis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34796" y="1719475"/>
            <a:ext cx="3181846" cy="2193032"/>
          </a:xfrm>
          <a:prstGeom prst="roundRect">
            <a:avLst>
              <a:gd name="adj" fmla="val 417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337518" y="1719475"/>
            <a:ext cx="76200" cy="2193032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56772" y="1812032"/>
            <a:ext cx="2952584" cy="49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Manual &amp; Unorganized Processes</a:t>
            </a:r>
            <a:endParaRPr lang="en-US" sz="1800" dirty="0">
              <a:latin typeface="Noto Serif SC Bol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35606" y="2400858"/>
            <a:ext cx="2772668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Current manual solutions (e.g., paper registers, bulletin boards, informal chat groups) are inherently slow, unorganized, and prone to misplacement of reports.</a:t>
            </a:r>
            <a:endParaRPr lang="en-US" sz="1600" dirty="0">
              <a:latin typeface="Geis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95501" y="1761701"/>
            <a:ext cx="3181846" cy="2198886"/>
          </a:xfrm>
          <a:prstGeom prst="roundRect">
            <a:avLst>
              <a:gd name="adj" fmla="val 4158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998222" y="1750815"/>
            <a:ext cx="76200" cy="2198886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318472" y="1810715"/>
            <a:ext cx="2286397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Consequences of Delay</a:t>
            </a:r>
            <a:endParaRPr lang="en-US" sz="1800" dirty="0">
              <a:latin typeface="Noto Serif SC Bold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18472" y="2277241"/>
            <a:ext cx="2772668" cy="1507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Delayed recovery results in significant inconvenience, potential loss of important documents, academic setbacks, and widespread user frustration across the campus community.</a:t>
            </a:r>
            <a:endParaRPr lang="en-US" sz="1600" dirty="0">
              <a:latin typeface="Geis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187C9-7017-1BDF-A693-A95B91D16EE4}"/>
              </a:ext>
            </a:extLst>
          </p:cNvPr>
          <p:cNvSpPr txBox="1"/>
          <p:nvPr/>
        </p:nvSpPr>
        <p:spPr>
          <a:xfrm>
            <a:off x="544286" y="359229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9DC62-A830-00B4-026F-215D190415CA}"/>
              </a:ext>
            </a:extLst>
          </p:cNvPr>
          <p:cNvSpPr txBox="1"/>
          <p:nvPr/>
        </p:nvSpPr>
        <p:spPr>
          <a:xfrm>
            <a:off x="348344" y="261256"/>
            <a:ext cx="11676016" cy="14619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50" b="1" dirty="0">
                <a:latin typeface="Noto Serif SC Bold"/>
              </a:rPr>
              <a:t>Introducing the Digital Lost &amp; Found System</a:t>
            </a:r>
            <a:r>
              <a:rPr lang="en-US" sz="4450" dirty="0">
                <a:latin typeface="Noto Serif SC Bold"/>
                <a:ea typeface="Noto Serif SC Bold"/>
                <a:cs typeface="Noto Serif SC Bold"/>
              </a:rPr>
              <a:t>​</a:t>
            </a:r>
            <a:endParaRPr lang="en-US" sz="4450" dirty="0">
              <a:latin typeface="Noto Serif SC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12FBF-675A-B60A-2730-0F7A39587770}"/>
              </a:ext>
            </a:extLst>
          </p:cNvPr>
          <p:cNvSpPr txBox="1"/>
          <p:nvPr/>
        </p:nvSpPr>
        <p:spPr>
          <a:xfrm>
            <a:off x="352102" y="1721095"/>
            <a:ext cx="111360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We propose a centralized, web-based platform designed to drastically minimize the time and effort required to locate lost belongings and ensure trust in the recovery process.</a:t>
            </a:r>
            <a:endParaRPr lang="en-US" dirty="0"/>
          </a:p>
        </p:txBody>
      </p:sp>
      <p:pic>
        <p:nvPicPr>
          <p:cNvPr id="4" name="Picture 3" descr="preencoded.png">
            <a:extLst>
              <a:ext uri="{FF2B5EF4-FFF2-40B4-BE49-F238E27FC236}">
                <a16:creationId xmlns:a16="http://schemas.microsoft.com/office/drawing/2014/main" id="{1B78F25E-A775-DD38-07E5-E9CA4B88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94" y="2733533"/>
            <a:ext cx="685800" cy="685800"/>
          </a:xfrm>
          <a:prstGeom prst="rect">
            <a:avLst/>
          </a:prstGeom>
        </p:spPr>
      </p:pic>
      <p:pic>
        <p:nvPicPr>
          <p:cNvPr id="5" name="Picture 4" descr="preencoded.png">
            <a:extLst>
              <a:ext uri="{FF2B5EF4-FFF2-40B4-BE49-F238E27FC236}">
                <a16:creationId xmlns:a16="http://schemas.microsoft.com/office/drawing/2014/main" id="{2EA7F96A-6923-492A-16AC-72B6E1BF2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936" y="2733533"/>
            <a:ext cx="685800" cy="685800"/>
          </a:xfrm>
          <a:prstGeom prst="rect">
            <a:avLst/>
          </a:prstGeom>
        </p:spPr>
      </p:pic>
      <p:pic>
        <p:nvPicPr>
          <p:cNvPr id="6" name="Picture 5" descr="preencoded.png">
            <a:extLst>
              <a:ext uri="{FF2B5EF4-FFF2-40B4-BE49-F238E27FC236}">
                <a16:creationId xmlns:a16="http://schemas.microsoft.com/office/drawing/2014/main" id="{9E414EB7-F8FD-8D28-C112-C6382CAF5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145" y="2733533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C13E34-559A-1030-F413-D2FE83BC9078}"/>
              </a:ext>
            </a:extLst>
          </p:cNvPr>
          <p:cNvSpPr txBox="1"/>
          <p:nvPr/>
        </p:nvSpPr>
        <p:spPr>
          <a:xfrm>
            <a:off x="42333" y="3595016"/>
            <a:ext cx="60960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Noto Serif SC Bold"/>
              </a:rPr>
              <a:t>Web-Based Platform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C3EFD7F-1022-2981-B8B0-C9E40956F5EB}"/>
              </a:ext>
            </a:extLst>
          </p:cNvPr>
          <p:cNvSpPr/>
          <p:nvPr/>
        </p:nvSpPr>
        <p:spPr>
          <a:xfrm>
            <a:off x="4283393" y="3596706"/>
            <a:ext cx="3273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Image Upload &amp; Match</a:t>
            </a:r>
            <a:endParaRPr lang="en-US" sz="2200" dirty="0">
              <a:latin typeface="Aptos" panose="02110004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A8BDD9C-3372-676C-3973-CFF0813AF3CE}"/>
              </a:ext>
            </a:extLst>
          </p:cNvPr>
          <p:cNvSpPr/>
          <p:nvPr/>
        </p:nvSpPr>
        <p:spPr>
          <a:xfrm>
            <a:off x="8918893" y="3596707"/>
            <a:ext cx="3273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50"/>
              </a:lnSpc>
            </a:pPr>
            <a:r>
              <a:rPr lang="en-US" sz="2200" b="1" dirty="0">
                <a:ea typeface="+mn-lt"/>
                <a:cs typeface="+mn-lt"/>
              </a:rPr>
              <a:t>Verification &amp; Security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B27C5-FACA-5F25-626A-DD0E69B57729}"/>
              </a:ext>
            </a:extLst>
          </p:cNvPr>
          <p:cNvSpPr txBox="1"/>
          <p:nvPr/>
        </p:nvSpPr>
        <p:spPr>
          <a:xfrm>
            <a:off x="349250" y="4593167"/>
            <a:ext cx="23600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Accessible via any browser, simplifying reporting and searching for all students and administrators</a:t>
            </a:r>
            <a:r>
              <a:rPr lang="en-US" sz="1750" dirty="0">
                <a:solidFill>
                  <a:srgbClr val="4B4A4A"/>
                </a:solidFill>
                <a:latin typeface="Geist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C3CD-D9B6-10AC-532B-F694B9896C00}"/>
              </a:ext>
            </a:extLst>
          </p:cNvPr>
          <p:cNvSpPr txBox="1"/>
          <p:nvPr/>
        </p:nvSpPr>
        <p:spPr>
          <a:xfrm>
            <a:off x="4603749" y="4593167"/>
            <a:ext cx="261408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Users can upload images for visual identification and view automated suggestions for potential matches instantly.</a:t>
            </a:r>
            <a:r>
              <a:rPr lang="en-US" sz="1750" dirty="0">
                <a:latin typeface="Geist"/>
              </a:rPr>
              <a:t>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469E69-404D-BED9-EC07-066E823D6369}"/>
              </a:ext>
            </a:extLst>
          </p:cNvPr>
          <p:cNvSpPr txBox="1"/>
          <p:nvPr/>
        </p:nvSpPr>
        <p:spPr>
          <a:xfrm>
            <a:off x="9302750" y="4593167"/>
            <a:ext cx="24976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Admin verification ensures the authenticity of all claims, ensuring items are returned to their rightful owners.​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8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868" y="803672"/>
            <a:ext cx="10729119" cy="58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541"/>
              </a:lnSpc>
              <a:buNone/>
            </a:pPr>
            <a:endParaRPr lang="en-US" sz="3600" b="1" dirty="0">
              <a:solidFill>
                <a:srgbClr val="006747"/>
              </a:solidFill>
              <a:latin typeface="Noto Serif SC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1868" y="1725499"/>
            <a:ext cx="11171294" cy="62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A comparative analysis of existing methods highlights the clear need for a digitally centralized and automated solution for the campus environment.</a:t>
            </a:r>
            <a:endParaRPr lang="en-US" sz="1800">
              <a:latin typeface="Geis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2451" y="2679932"/>
            <a:ext cx="10888266" cy="3042940"/>
          </a:xfrm>
          <a:prstGeom prst="roundRect">
            <a:avLst>
              <a:gd name="adj" fmla="val 55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23885" y="2675699"/>
            <a:ext cx="10875566" cy="534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4649" y="2687936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Platform</a:t>
            </a:r>
            <a:endParaRPr lang="en-US" sz="1800" dirty="0">
              <a:latin typeface="Geis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50565" y="2645603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Approach</a:t>
            </a:r>
            <a:endParaRPr lang="en-US" sz="1800" dirty="0">
              <a:latin typeface="Geis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7211" y="2645603"/>
            <a:ext cx="3974505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Limitation</a:t>
            </a:r>
            <a:endParaRPr lang="en-US" sz="1800" dirty="0">
              <a:latin typeface="Geis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4649" y="3222031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Manual Registers</a:t>
            </a:r>
            <a:endParaRPr lang="en-US" sz="1600" dirty="0">
              <a:latin typeface="Geis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02398" y="3200864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Paper-based entry</a:t>
            </a:r>
            <a:endParaRPr lang="en-US" sz="1458" dirty="0">
              <a:latin typeface="Aptos" panose="02110004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73044" y="3222030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Time-consuming, non-searchable, and easily lost or damaged.</a:t>
            </a:r>
            <a:endParaRPr lang="en-US" sz="1600" dirty="0">
              <a:latin typeface="Geis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4649" y="4054079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WhatsApp Groups</a:t>
            </a:r>
            <a:endParaRPr lang="en-US" sz="1600" dirty="0">
              <a:latin typeface="Geis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53148" y="4054079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Informal, chat-based reporting</a:t>
            </a:r>
            <a:endParaRPr lang="en-US" sz="1600" dirty="0">
              <a:latin typeface="Geis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73044" y="4054079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Lack of formal tracking, verification, and data retention.</a:t>
            </a:r>
            <a:endParaRPr lang="en-US" sz="1450" dirty="0">
              <a:latin typeface="Geis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649" y="4886127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Google Forms</a:t>
            </a:r>
            <a:endParaRPr lang="en-US" sz="1600" dirty="0">
              <a:latin typeface="Geis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47314" y="4886127"/>
            <a:ext cx="3950164" cy="30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Basic form input for data collection</a:t>
            </a:r>
            <a:endParaRPr lang="en-US" sz="1600" dirty="0">
              <a:latin typeface="Geis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73044" y="4886127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No automated matching algorithm or administrative control over claims.</a:t>
            </a:r>
            <a:endParaRPr lang="en-US" sz="1600" dirty="0">
              <a:latin typeface="Geis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229" y="5880715"/>
            <a:ext cx="11792691" cy="58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75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Observation: Current systems are either inefficient, lack centralized tracking, or require excessive manual effort to manage </a:t>
            </a:r>
          </a:p>
          <a:p>
            <a:pPr marL="0" indent="0" algn="l">
              <a:lnSpc>
                <a:spcPts val="1875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                         claims.</a:t>
            </a:r>
            <a:endParaRPr lang="en-US" sz="1600" dirty="0">
              <a:latin typeface="Geis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46FD59-F802-54D9-E2BC-8C4538762091}"/>
              </a:ext>
            </a:extLst>
          </p:cNvPr>
          <p:cNvSpPr txBox="1"/>
          <p:nvPr/>
        </p:nvSpPr>
        <p:spPr>
          <a:xfrm>
            <a:off x="468086" y="315686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Literature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6197" y="296409"/>
            <a:ext cx="10032035" cy="520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792"/>
              </a:lnSpc>
              <a:buNone/>
            </a:pPr>
            <a:r>
              <a:rPr lang="en-US" sz="30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The Gaps in Current Lost &amp; Found Processes</a:t>
            </a:r>
            <a:endParaRPr lang="en-US" sz="3000" dirty="0">
              <a:latin typeface="Noto Serif SC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1154" y="1616600"/>
            <a:ext cx="7553451" cy="49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No Automated Matching</a:t>
            </a:r>
          </a:p>
          <a:p>
            <a:pPr marL="285750" indent="-285750">
              <a:lnSpc>
                <a:spcPts val="1875"/>
              </a:lnSpc>
              <a:buFont typeface="Arial"/>
              <a:buChar char="•"/>
            </a:pPr>
            <a:endParaRPr lang="en-US" sz="1800" b="1" dirty="0">
              <a:solidFill>
                <a:srgbClr val="4B4A4A"/>
              </a:solidFill>
              <a:latin typeface="Noto Serif SC Bold"/>
              <a:ea typeface="Noto Serif SC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0270" y="2092479"/>
            <a:ext cx="10587077" cy="4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Lost item reports are not automatically compared against found item reports, relying instead on manual scanning</a:t>
            </a:r>
            <a:r>
              <a:rPr lang="en-US" sz="1800" dirty="0">
                <a:solidFill>
                  <a:srgbClr val="4B4A4A"/>
                </a:solidFill>
                <a:latin typeface="Geist"/>
                <a:ea typeface="Geist"/>
                <a:cs typeface="Geist" pitchFamily="34" charset="-120"/>
              </a:rPr>
              <a:t>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0269" y="2713279"/>
            <a:ext cx="416744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Lack of Image Verification</a:t>
            </a:r>
            <a:endParaRPr lang="en-US" sz="1800" b="1" dirty="0" err="1">
              <a:solidFill>
                <a:srgbClr val="4B4A4A"/>
              </a:solidFill>
              <a:latin typeface="Noto Serif SC Bold"/>
              <a:ea typeface="Noto Serif SC Bol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1782" y="3189160"/>
            <a:ext cx="10010134" cy="494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Identification relies solely on subjective textual descriptions, leading to potential disputes or false claims.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9381" y="3907930"/>
            <a:ext cx="2779528" cy="296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Decentralized Records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71153" y="4307610"/>
            <a:ext cx="10423792" cy="494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Information is scattered across various departments and platforms, making comprehensive searching impossible.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1153" y="5113465"/>
            <a:ext cx="4284593" cy="26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Missing Administrative Control</a:t>
            </a:r>
            <a:endParaRPr lang="en-US" sz="1800" b="1" dirty="0">
              <a:latin typeface="Noto Serif SC Bold"/>
              <a:ea typeface="Noto Serif SC Bol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71153" y="5611119"/>
            <a:ext cx="7256050" cy="475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Absence of a formal process for ownership verification and claim approval.</a:t>
            </a:r>
            <a:endParaRPr lang="en-US" sz="1800" dirty="0">
              <a:latin typeface="Geist"/>
              <a:ea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260544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9514" y="1712847"/>
            <a:ext cx="9268378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75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"Students face difficulty locating lost belongings due to the absence of a verified and centralized digital Lost &amp; Found system within the campus."</a:t>
            </a:r>
            <a:endParaRPr lang="en-US" sz="1800" dirty="0">
              <a:latin typeface="Geist"/>
            </a:endParaRPr>
          </a:p>
        </p:txBody>
      </p:sp>
      <p:sp>
        <p:nvSpPr>
          <p:cNvPr id="5" name="Shape 2"/>
          <p:cNvSpPr/>
          <p:nvPr/>
        </p:nvSpPr>
        <p:spPr>
          <a:xfrm flipH="1">
            <a:off x="447103" y="1346611"/>
            <a:ext cx="59266" cy="1279592"/>
          </a:xfrm>
          <a:prstGeom prst="rect">
            <a:avLst/>
          </a:prstGeom>
          <a:solidFill>
            <a:srgbClr val="006747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9075" y="3431495"/>
            <a:ext cx="827610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75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The core problem lies in the inefficiency of current systems, where manual or unstructured methods lead to lost records, opportunities for false claims, and substantial user inconvenience. We need a structured platform that guarantees authenticity and efficiency for all stakeholders.</a:t>
            </a:r>
            <a:endParaRPr lang="en-US" sz="1800" dirty="0">
              <a:latin typeface="Geis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74774-3D9F-4512-0DB6-A7FE2F164E00}"/>
              </a:ext>
            </a:extLst>
          </p:cNvPr>
          <p:cNvSpPr txBox="1"/>
          <p:nvPr/>
        </p:nvSpPr>
        <p:spPr>
          <a:xfrm>
            <a:off x="268817" y="130629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Problem Statement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0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165" y="626963"/>
            <a:ext cx="9012039" cy="548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291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ptos Display"/>
              </a:rPr>
              <a:t>Objectives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1498750"/>
            <a:ext cx="263128" cy="329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4375" y="1526282"/>
            <a:ext cx="2813149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User-Friendly Web Portal</a:t>
            </a:r>
            <a:endParaRPr lang="en-US" sz="1708" dirty="0">
              <a:latin typeface="Aptos" panose="0211000402020202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84374" y="1898004"/>
            <a:ext cx="11007626" cy="26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Develop an intuitive portal for seamless reporting and management of lost and found items by students and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faculty</a:t>
            </a:r>
            <a:r>
              <a:rPr lang="en-US" sz="1350" dirty="0">
                <a:solidFill>
                  <a:srgbClr val="4B4A4A"/>
                </a:solidFill>
                <a:latin typeface="Geist"/>
                <a:ea typeface="Geist" pitchFamily="34" charset="-122"/>
                <a:cs typeface="Geist" pitchFamily="34" charset="-120"/>
              </a:rPr>
              <a:t>.</a:t>
            </a:r>
            <a:endParaRPr lang="en-US" sz="1350" dirty="0">
              <a:latin typeface="Geis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2509888"/>
            <a:ext cx="263128" cy="3290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4374" y="2537420"/>
            <a:ext cx="2489200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Reliable SQL Database</a:t>
            </a:r>
            <a:endParaRPr lang="en-US" sz="1700" dirty="0">
              <a:latin typeface="Noto Serif SC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84374" y="2916833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Store all item data securely in a robust SQL database, ensuring reliable retrieval and long-term record keeping.</a:t>
            </a:r>
            <a:endParaRPr lang="en-US" sz="1600" dirty="0">
              <a:latin typeface="Geist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3521026"/>
            <a:ext cx="263128" cy="329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4375" y="3548558"/>
            <a:ext cx="3004939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Automated Matching Logic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84374" y="3927971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Implement logic to automate search and matching based on keywords, category, and time, reducing manual effort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and errors.</a:t>
            </a:r>
            <a:endParaRPr lang="en-US" sz="1600" dirty="0">
              <a:latin typeface="Geist"/>
              <a:ea typeface="Geis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4532164"/>
            <a:ext cx="263128" cy="3290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4374" y="4559697"/>
            <a:ext cx="2773858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Authenticity Verification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184374" y="4939110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Establish an admin verification process to thoroughly vet all claims and ensure items are only returned to the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rightful owners.</a:t>
            </a:r>
            <a:endParaRPr lang="en-US" sz="1600" dirty="0">
              <a:latin typeface="Geist"/>
              <a:ea typeface="Geist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5543302"/>
            <a:ext cx="263128" cy="3290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4374" y="5570835"/>
            <a:ext cx="3412828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Detailed Reporting &amp; Statistics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184374" y="5950248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Provide administrators with detailed reports to track trends in lost/found items and measure system effectiveness.</a:t>
            </a:r>
            <a:endParaRPr lang="en-US" sz="1600" dirty="0">
              <a:latin typeface="Geist"/>
              <a:ea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395517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32"/>
            <a:ext cx="10515600" cy="1007115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pic>
        <p:nvPicPr>
          <p:cNvPr id="10" name="Content Placeholder 9" descr="A diagram of a process&#10;&#10;AI-generated content may be incorrect.">
            <a:extLst>
              <a:ext uri="{FF2B5EF4-FFF2-40B4-BE49-F238E27FC236}">
                <a16:creationId xmlns:a16="http://schemas.microsoft.com/office/drawing/2014/main" id="{E302778C-EE52-3566-68CB-36D87081F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5317" y="896145"/>
            <a:ext cx="6817782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7" y="118872"/>
            <a:ext cx="10515600" cy="1325563"/>
          </a:xfrm>
        </p:spPr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5DD3FF-A6C3-9E5F-86AB-81D8988F3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820796"/>
              </p:ext>
            </p:extLst>
          </p:nvPr>
        </p:nvGraphicFramePr>
        <p:xfrm>
          <a:off x="478367" y="1084945"/>
          <a:ext cx="105156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790367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05310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179103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663912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57848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82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 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13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09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99193"/>
                  </a:ext>
                </a:extLst>
              </a:tr>
            </a:tbl>
          </a:graphicData>
        </a:graphic>
      </p:graphicFrame>
      <p:pic>
        <p:nvPicPr>
          <p:cNvPr id="6" name="Picture 5" descr="preencoded.png">
            <a:extLst>
              <a:ext uri="{FF2B5EF4-FFF2-40B4-BE49-F238E27FC236}">
                <a16:creationId xmlns:a16="http://schemas.microsoft.com/office/drawing/2014/main" id="{1B76E977-9D2A-FCAC-D5A5-15E8B17F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61" y="2739664"/>
            <a:ext cx="74009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3" y="-166270"/>
            <a:ext cx="10515600" cy="1325563"/>
          </a:xfrm>
        </p:spPr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7BEB2-2AC2-3945-E11D-634CB70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63" y="1163889"/>
            <a:ext cx="10515600" cy="522362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Successful Digitalization of L&amp;F:</a:t>
            </a:r>
            <a:r>
              <a:rPr lang="en-US" dirty="0">
                <a:ea typeface="+mn-lt"/>
                <a:cs typeface="+mn-lt"/>
              </a:rPr>
              <a:t> Successfully replaced inefficient, paper-based processes with a modern, fast, and user-friendly web application.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Enhanced Student Experience:</a:t>
            </a:r>
            <a:r>
              <a:rPr lang="en-US" dirty="0">
                <a:ea typeface="+mn-lt"/>
                <a:cs typeface="+mn-lt"/>
              </a:rPr>
              <a:t> Reduced the stress and time required for students to report or search for lost property, improving overall campus morale.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Seamless Information Flow:</a:t>
            </a:r>
            <a:r>
              <a:rPr lang="en-US" dirty="0">
                <a:ea typeface="+mn-lt"/>
                <a:cs typeface="+mn-lt"/>
              </a:rPr>
              <a:t> Implemented a single-page Dashboard interface ensuring rapid navigation between key actions: Searching, Reporting Lost, and Reporting Found items.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Integrated Security:</a:t>
            </a:r>
            <a:r>
              <a:rPr lang="en-US" dirty="0">
                <a:ea typeface="+mn-lt"/>
                <a:cs typeface="+mn-lt"/>
              </a:rPr>
              <a:t> Incorporated robust client-side validation for login and detailed personal profile integration (Reg. No., Contact, Course) via a Modal Pop-up to streamline verification during the claim process.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Future-Ready Platform:</a:t>
            </a:r>
            <a:r>
              <a:rPr lang="en-US" dirty="0">
                <a:ea typeface="+mn-lt"/>
                <a:cs typeface="+mn-lt"/>
              </a:rPr>
              <a:t> The modular design (using HTML, CSS, and JS) allows for easy integration with future database/backend systems for scaling and permanent data storage.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42875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465792"/>
            <a:ext cx="1117176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Satendra Kumar et al., </a:t>
            </a:r>
            <a:r>
              <a:rPr lang="en-IN" i="1">
                <a:ea typeface="+mn-lt"/>
                <a:cs typeface="+mn-lt"/>
              </a:rPr>
              <a:t>“Web-Based Lost and Found System,”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 b="1">
                <a:ea typeface="+mn-lt"/>
                <a:cs typeface="+mn-lt"/>
              </a:rPr>
              <a:t>MIT International Journal of Computer Science and Information Technology</a:t>
            </a:r>
            <a:r>
              <a:rPr lang="en-IN">
                <a:ea typeface="+mn-lt"/>
                <a:cs typeface="+mn-lt"/>
              </a:rPr>
              <a:t>, Vol. 11, No. 1, Dec 2022.</a:t>
            </a:r>
            <a:endParaRPr lang="en-US"/>
          </a:p>
          <a:p>
            <a:pPr>
              <a:buFont typeface="Arial"/>
              <a:buChar char="•"/>
            </a:pPr>
            <a:r>
              <a:rPr lang="en-IN" dirty="0">
                <a:ea typeface="+mn-lt"/>
                <a:cs typeface="+mn-lt"/>
              </a:rPr>
              <a:t>Tan, S. Y. &amp; Chong, C. R., </a:t>
            </a:r>
            <a:r>
              <a:rPr lang="en-IN" i="1" dirty="0">
                <a:ea typeface="+mn-lt"/>
                <a:cs typeface="+mn-lt"/>
              </a:rPr>
              <a:t>“An Effective Lost and Found System in University Campus,”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 b="1" dirty="0">
                <a:ea typeface="+mn-lt"/>
                <a:cs typeface="+mn-lt"/>
              </a:rPr>
              <a:t>Journal of Information System and Technology Management</a:t>
            </a:r>
            <a:r>
              <a:rPr lang="en-IN" dirty="0">
                <a:ea typeface="+mn-lt"/>
                <a:cs typeface="+mn-lt"/>
              </a:rPr>
              <a:t>, 2023.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 i="1" dirty="0">
                <a:ea typeface="+mn-lt"/>
                <a:cs typeface="+mn-lt"/>
              </a:rPr>
              <a:t>“Digital Lost and Found Item Portal,”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 b="1" dirty="0">
                <a:ea typeface="+mn-lt"/>
                <a:cs typeface="+mn-lt"/>
              </a:rPr>
              <a:t>International Research Journal of Engineering and Technology (IRJET)</a:t>
            </a:r>
            <a:r>
              <a:rPr lang="en-IN" dirty="0">
                <a:ea typeface="+mn-lt"/>
                <a:cs typeface="+mn-lt"/>
              </a:rPr>
              <a:t>, Vol. 10, Issue 11, 2023.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 i="1" dirty="0">
                <a:ea typeface="+mn-lt"/>
                <a:cs typeface="+mn-lt"/>
              </a:rPr>
              <a:t>“Lost and Found System for VNR VJIET,”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 b="1" dirty="0">
                <a:ea typeface="+mn-lt"/>
                <a:cs typeface="+mn-lt"/>
              </a:rPr>
              <a:t>International Journal of Engineering Research &amp; Technology (IJERT)</a:t>
            </a:r>
            <a:r>
              <a:rPr lang="en-IN" dirty="0">
                <a:ea typeface="+mn-lt"/>
                <a:cs typeface="+mn-lt"/>
              </a:rPr>
              <a:t>, Vol. 11, Issue 6, 2022.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034" y="2480884"/>
            <a:ext cx="332104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825</Words>
  <Application>Microsoft Office PowerPoint</Application>
  <PresentationFormat>Widescreen</PresentationFormat>
  <Paragraphs>117</Paragraphs>
  <Slides>13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UNI LOST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Methodology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AANYA JAIN</cp:lastModifiedBy>
  <cp:revision>408</cp:revision>
  <dcterms:created xsi:type="dcterms:W3CDTF">2025-09-29T05:03:41Z</dcterms:created>
  <dcterms:modified xsi:type="dcterms:W3CDTF">2025-11-20T05:40:48Z</dcterms:modified>
</cp:coreProperties>
</file>