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70" r:id="rId5"/>
    <p:sldId id="271" r:id="rId6"/>
    <p:sldId id="273" r:id="rId7"/>
    <p:sldId id="274" r:id="rId8"/>
    <p:sldId id="276" r:id="rId9"/>
    <p:sldId id="261" r:id="rId10"/>
    <p:sldId id="266" r:id="rId11"/>
    <p:sldId id="277" r:id="rId12"/>
    <p:sldId id="278" r:id="rId13"/>
    <p:sldId id="279" r:id="rId14"/>
    <p:sldId id="267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B4268-2B5F-EB7D-FCE9-A02F2B9BAAA6}" v="426" dt="2026-04-13T18:40:48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F1EAD-ACC1-470E-96D3-3548616D9F72}" type="datetimeFigureOut"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B22A0-C286-4185-99BE-5D25B265C8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1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92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24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31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99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9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614" y="2475046"/>
            <a:ext cx="9366250" cy="1517944"/>
          </a:xfrm>
        </p:spPr>
        <p:txBody>
          <a:bodyPr>
            <a:normAutofit/>
          </a:bodyPr>
          <a:lstStyle/>
          <a:p>
            <a:r>
              <a:rPr lang="en-IN" dirty="0"/>
              <a:t>UNI LOST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Yashvi Taunk</a:t>
            </a:r>
          </a:p>
          <a:p>
            <a:r>
              <a:rPr lang="en-IN" dirty="0"/>
              <a:t>23FE10CSE00634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</a:p>
          <a:p>
            <a:r>
              <a:rPr lang="en-IN" dirty="0"/>
              <a:t>Ms. Harshika Mathur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Objectives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 PROPOSED METHODOLOGY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 RESULT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OUTCOME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REFERENCES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9672" y="546001"/>
            <a:ext cx="6520656" cy="981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833"/>
              </a:lnSpc>
              <a:buNone/>
            </a:pPr>
            <a:endParaRPr lang="en-US" sz="3050" b="1" dirty="0">
              <a:solidFill>
                <a:srgbClr val="006747"/>
              </a:solidFill>
              <a:latin typeface="Noto Serif SC Bold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9672" y="1763018"/>
            <a:ext cx="3181846" cy="2193032"/>
          </a:xfrm>
          <a:prstGeom prst="roundRect">
            <a:avLst>
              <a:gd name="adj" fmla="val 417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30622" y="1763018"/>
            <a:ext cx="76200" cy="2193032"/>
          </a:xfrm>
          <a:prstGeom prst="roundRect">
            <a:avLst>
              <a:gd name="adj" fmla="val 18550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2836" y="1939032"/>
            <a:ext cx="1963242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Frequent Item Loss</a:t>
            </a:r>
            <a:endParaRPr lang="en-US" sz="1800" dirty="0">
              <a:latin typeface="Noto Serif SC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2836" y="2405559"/>
            <a:ext cx="2772668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400" dirty="0">
                <a:latin typeface="Geist"/>
                <a:ea typeface="Geist" pitchFamily="34" charset="-122"/>
                <a:cs typeface="Geist" pitchFamily="34" charset="-120"/>
              </a:rPr>
              <a:t>College students frequently lose important items such as ID cards, wallets, essential books, and expensive gadgets, leading to immediate stress and disruption.</a:t>
            </a:r>
            <a:endParaRPr lang="en-US" sz="1400" dirty="0">
              <a:latin typeface="Geis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34796" y="1719475"/>
            <a:ext cx="3181846" cy="2193032"/>
          </a:xfrm>
          <a:prstGeom prst="roundRect">
            <a:avLst>
              <a:gd name="adj" fmla="val 4170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337518" y="1719475"/>
            <a:ext cx="76200" cy="2193032"/>
          </a:xfrm>
          <a:prstGeom prst="roundRect">
            <a:avLst>
              <a:gd name="adj" fmla="val 18550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56772" y="1812032"/>
            <a:ext cx="2952584" cy="49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Manual &amp; Unorganized Processes</a:t>
            </a:r>
            <a:endParaRPr lang="en-US" sz="1800" dirty="0">
              <a:latin typeface="Noto Serif SC Bold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35606" y="2400858"/>
            <a:ext cx="2772668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Current manual solutions (e.g., paper registers, bulletin boards, informal chat groups) are inherently slow, unorganized, and prone to misplacement of reports.</a:t>
            </a:r>
            <a:endParaRPr lang="en-US" sz="1600" dirty="0">
              <a:latin typeface="Geist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95501" y="1761701"/>
            <a:ext cx="3181846" cy="2198886"/>
          </a:xfrm>
          <a:prstGeom prst="roundRect">
            <a:avLst>
              <a:gd name="adj" fmla="val 4158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998222" y="1750815"/>
            <a:ext cx="76200" cy="2198886"/>
          </a:xfrm>
          <a:prstGeom prst="roundRect">
            <a:avLst>
              <a:gd name="adj" fmla="val 185506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318472" y="1810715"/>
            <a:ext cx="2286397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Consequences of Delay</a:t>
            </a:r>
            <a:endParaRPr lang="en-US" sz="1800" dirty="0">
              <a:latin typeface="Noto Serif SC Bold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18472" y="2277241"/>
            <a:ext cx="2772668" cy="1507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Delayed recovery results in significant inconvenience, potential loss of important documents, academic setbacks, and widespread user frustration across the campus community.</a:t>
            </a:r>
            <a:endParaRPr lang="en-US" sz="1600" dirty="0">
              <a:latin typeface="Geis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5187C9-7017-1BDF-A693-A95B91D16EE4}"/>
              </a:ext>
            </a:extLst>
          </p:cNvPr>
          <p:cNvSpPr txBox="1"/>
          <p:nvPr/>
        </p:nvSpPr>
        <p:spPr>
          <a:xfrm>
            <a:off x="544286" y="359229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latin typeface="Aptos Display"/>
              </a:rPr>
              <a:t>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09DC62-A830-00B4-026F-215D190415CA}"/>
              </a:ext>
            </a:extLst>
          </p:cNvPr>
          <p:cNvSpPr txBox="1"/>
          <p:nvPr/>
        </p:nvSpPr>
        <p:spPr>
          <a:xfrm>
            <a:off x="348344" y="261256"/>
            <a:ext cx="11676016" cy="14619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50" b="1" dirty="0">
                <a:latin typeface="Noto Serif SC Bold"/>
              </a:rPr>
              <a:t>Introducing the Digital Lost &amp; Found System</a:t>
            </a:r>
            <a:r>
              <a:rPr lang="en-US" sz="4450" dirty="0">
                <a:latin typeface="Noto Serif SC Bold"/>
                <a:ea typeface="Noto Serif SC Bold"/>
                <a:cs typeface="Noto Serif SC Bold"/>
              </a:rPr>
              <a:t>​</a:t>
            </a:r>
            <a:endParaRPr lang="en-US" sz="4450" dirty="0">
              <a:latin typeface="Noto Serif SC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12FBF-675A-B60A-2730-0F7A39587770}"/>
              </a:ext>
            </a:extLst>
          </p:cNvPr>
          <p:cNvSpPr txBox="1"/>
          <p:nvPr/>
        </p:nvSpPr>
        <p:spPr>
          <a:xfrm>
            <a:off x="352102" y="1721095"/>
            <a:ext cx="111360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We propose a centralized, web-based platform designed to drastically minimize the time and effort required to locate lost belongings and ensure trust in the recovery process.</a:t>
            </a:r>
            <a:endParaRPr lang="en-US" dirty="0"/>
          </a:p>
        </p:txBody>
      </p:sp>
      <p:pic>
        <p:nvPicPr>
          <p:cNvPr id="4" name="Picture 3" descr="preencoded.png">
            <a:extLst>
              <a:ext uri="{FF2B5EF4-FFF2-40B4-BE49-F238E27FC236}">
                <a16:creationId xmlns:a16="http://schemas.microsoft.com/office/drawing/2014/main" id="{1B78F25E-A775-DD38-07E5-E9CA4B88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94" y="2733533"/>
            <a:ext cx="685800" cy="685800"/>
          </a:xfrm>
          <a:prstGeom prst="rect">
            <a:avLst/>
          </a:prstGeom>
        </p:spPr>
      </p:pic>
      <p:pic>
        <p:nvPicPr>
          <p:cNvPr id="5" name="Picture 4" descr="preencoded.png">
            <a:extLst>
              <a:ext uri="{FF2B5EF4-FFF2-40B4-BE49-F238E27FC236}">
                <a16:creationId xmlns:a16="http://schemas.microsoft.com/office/drawing/2014/main" id="{2EA7F96A-6923-492A-16AC-72B6E1BF2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936" y="2733533"/>
            <a:ext cx="685800" cy="685800"/>
          </a:xfrm>
          <a:prstGeom prst="rect">
            <a:avLst/>
          </a:prstGeom>
        </p:spPr>
      </p:pic>
      <p:pic>
        <p:nvPicPr>
          <p:cNvPr id="6" name="Picture 5" descr="preencoded.png">
            <a:extLst>
              <a:ext uri="{FF2B5EF4-FFF2-40B4-BE49-F238E27FC236}">
                <a16:creationId xmlns:a16="http://schemas.microsoft.com/office/drawing/2014/main" id="{9E414EB7-F8FD-8D28-C112-C6382CAF5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145" y="2733533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C13E34-559A-1030-F413-D2FE83BC9078}"/>
              </a:ext>
            </a:extLst>
          </p:cNvPr>
          <p:cNvSpPr txBox="1"/>
          <p:nvPr/>
        </p:nvSpPr>
        <p:spPr>
          <a:xfrm>
            <a:off x="42333" y="3595016"/>
            <a:ext cx="60960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Noto Serif SC Bold"/>
              </a:rPr>
              <a:t>Web-Based Platform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C3EFD7F-1022-2981-B8B0-C9E40956F5EB}"/>
              </a:ext>
            </a:extLst>
          </p:cNvPr>
          <p:cNvSpPr/>
          <p:nvPr/>
        </p:nvSpPr>
        <p:spPr>
          <a:xfrm>
            <a:off x="4283393" y="3596706"/>
            <a:ext cx="32735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Image Upload &amp; Match</a:t>
            </a:r>
            <a:endParaRPr lang="en-US" sz="2200" dirty="0">
              <a:latin typeface="Aptos" panose="02110004020202020204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A8BDD9C-3372-676C-3973-CFF0813AF3CE}"/>
              </a:ext>
            </a:extLst>
          </p:cNvPr>
          <p:cNvSpPr/>
          <p:nvPr/>
        </p:nvSpPr>
        <p:spPr>
          <a:xfrm>
            <a:off x="8918893" y="3596707"/>
            <a:ext cx="32735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50"/>
              </a:lnSpc>
            </a:pPr>
            <a:r>
              <a:rPr lang="en-US" sz="2200" b="1" dirty="0">
                <a:ea typeface="+mn-lt"/>
                <a:cs typeface="+mn-lt"/>
              </a:rPr>
              <a:t>Verification &amp; Security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B27C5-FACA-5F25-626A-DD0E69B57729}"/>
              </a:ext>
            </a:extLst>
          </p:cNvPr>
          <p:cNvSpPr txBox="1"/>
          <p:nvPr/>
        </p:nvSpPr>
        <p:spPr>
          <a:xfrm>
            <a:off x="349250" y="4593167"/>
            <a:ext cx="23600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Accessible via any browser, simplifying reporting and searching for all students and administrators</a:t>
            </a:r>
            <a:r>
              <a:rPr lang="en-US" sz="1750" dirty="0">
                <a:solidFill>
                  <a:srgbClr val="4B4A4A"/>
                </a:solidFill>
                <a:latin typeface="Geist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2C3CD-D9B6-10AC-532B-F694B9896C00}"/>
              </a:ext>
            </a:extLst>
          </p:cNvPr>
          <p:cNvSpPr txBox="1"/>
          <p:nvPr/>
        </p:nvSpPr>
        <p:spPr>
          <a:xfrm>
            <a:off x="4603749" y="4593167"/>
            <a:ext cx="261408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Users can upload images for visual identification and view automated suggestions for potential matches instantly.</a:t>
            </a:r>
            <a:r>
              <a:rPr lang="en-US" sz="1750" dirty="0">
                <a:latin typeface="Geist"/>
              </a:rPr>
              <a:t>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469E69-404D-BED9-EC07-066E823D6369}"/>
              </a:ext>
            </a:extLst>
          </p:cNvPr>
          <p:cNvSpPr txBox="1"/>
          <p:nvPr/>
        </p:nvSpPr>
        <p:spPr>
          <a:xfrm>
            <a:off x="9302750" y="4593167"/>
            <a:ext cx="249766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eist"/>
              </a:rPr>
              <a:t>Admin verification ensures the authenticity of all claims, ensuring items are returned to their rightful owners.​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8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868" y="803672"/>
            <a:ext cx="10729119" cy="58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541"/>
              </a:lnSpc>
              <a:buNone/>
            </a:pPr>
            <a:endParaRPr lang="en-US" sz="3600" b="1" dirty="0">
              <a:solidFill>
                <a:srgbClr val="006747"/>
              </a:solidFill>
              <a:latin typeface="Noto Serif SC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1868" y="1725499"/>
            <a:ext cx="11171294" cy="62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dirty="0">
                <a:latin typeface="Geist"/>
                <a:ea typeface="Geist" pitchFamily="34" charset="-122"/>
                <a:cs typeface="Geist" pitchFamily="34" charset="-120"/>
              </a:rPr>
              <a:t>A comparative analysis of existing methods highlights the clear need for a digitally centralized and automated solution for the campus environment.</a:t>
            </a:r>
            <a:endParaRPr lang="en-US" sz="1800">
              <a:latin typeface="Geis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2451" y="2679932"/>
            <a:ext cx="10888266" cy="3042940"/>
          </a:xfrm>
          <a:prstGeom prst="roundRect">
            <a:avLst>
              <a:gd name="adj" fmla="val 55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23885" y="2675699"/>
            <a:ext cx="10875566" cy="5340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4649" y="2687936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b="1" dirty="0">
                <a:latin typeface="Geist"/>
                <a:ea typeface="Geist" pitchFamily="34" charset="-122"/>
                <a:cs typeface="Geist" pitchFamily="34" charset="-120"/>
              </a:rPr>
              <a:t>Platform</a:t>
            </a:r>
            <a:endParaRPr lang="en-US" sz="1800" dirty="0">
              <a:latin typeface="Geis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50565" y="2645603"/>
            <a:ext cx="3971330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b="1" dirty="0">
                <a:latin typeface="Geist"/>
                <a:ea typeface="Geist" pitchFamily="34" charset="-122"/>
                <a:cs typeface="Geist" pitchFamily="34" charset="-120"/>
              </a:rPr>
              <a:t>Approach</a:t>
            </a:r>
            <a:endParaRPr lang="en-US" sz="1800" dirty="0">
              <a:latin typeface="Geis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7211" y="2645603"/>
            <a:ext cx="3974505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800" b="1" dirty="0">
                <a:latin typeface="Geist"/>
                <a:ea typeface="Geist" pitchFamily="34" charset="-122"/>
                <a:cs typeface="Geist" pitchFamily="34" charset="-120"/>
              </a:rPr>
              <a:t>Limitation</a:t>
            </a:r>
            <a:endParaRPr lang="en-US" sz="1800" dirty="0">
              <a:latin typeface="Geis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4649" y="3222031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Manual Registers</a:t>
            </a:r>
            <a:endParaRPr lang="en-US" sz="1600" dirty="0">
              <a:latin typeface="Geis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02398" y="3200864"/>
            <a:ext cx="3971330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Paper-based entry</a:t>
            </a:r>
            <a:endParaRPr lang="en-US" sz="1458" dirty="0">
              <a:latin typeface="Aptos" panose="02110004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73044" y="3222030"/>
            <a:ext cx="3974505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Time-consuming, non-searchable, and easily lost or damaged.</a:t>
            </a:r>
            <a:endParaRPr lang="en-US" sz="1600" dirty="0">
              <a:latin typeface="Geis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4649" y="4054079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WhatsApp Groups</a:t>
            </a:r>
            <a:endParaRPr lang="en-US" sz="1600" dirty="0">
              <a:latin typeface="Geis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53148" y="4054079"/>
            <a:ext cx="3971330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Informal, chat-based reporting</a:t>
            </a:r>
            <a:endParaRPr lang="en-US" sz="1600" dirty="0">
              <a:latin typeface="Geis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73044" y="4054079"/>
            <a:ext cx="3974505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Lack of formal tracking, verification, and data retention.</a:t>
            </a:r>
            <a:endParaRPr lang="en-US" sz="1450" dirty="0">
              <a:latin typeface="Geis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649" y="4886127"/>
            <a:ext cx="1799432" cy="297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Google Forms</a:t>
            </a:r>
            <a:endParaRPr lang="en-US" sz="1600" dirty="0">
              <a:latin typeface="Geis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47314" y="4886127"/>
            <a:ext cx="3950164" cy="30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Basic form input for data collection</a:t>
            </a:r>
            <a:endParaRPr lang="en-US" sz="1600" dirty="0">
              <a:latin typeface="Geis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73044" y="4886127"/>
            <a:ext cx="3974505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33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No automated matching algorithm or administrative control over claims.</a:t>
            </a:r>
            <a:endParaRPr lang="en-US" sz="1600" dirty="0">
              <a:latin typeface="Geis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858" y="5869829"/>
            <a:ext cx="11792691" cy="58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75"/>
              </a:lnSpc>
            </a:pPr>
            <a:r>
              <a:rPr lang="en-US" sz="1600">
                <a:latin typeface="Geist"/>
                <a:ea typeface="Geist"/>
                <a:cs typeface="Geist" pitchFamily="34" charset="-120"/>
              </a:rPr>
              <a:t>Observation:    Current systems are either inefficient, lack centralized tracking, or require excessive manual effort to manage </a:t>
            </a:r>
          </a:p>
          <a:p>
            <a:pPr marL="0" indent="0" algn="l">
              <a:lnSpc>
                <a:spcPts val="1875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                         claims.</a:t>
            </a:r>
            <a:endParaRPr lang="en-US" sz="1600" dirty="0">
              <a:latin typeface="Geis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46FD59-F802-54D9-E2BC-8C4538762091}"/>
              </a:ext>
            </a:extLst>
          </p:cNvPr>
          <p:cNvSpPr txBox="1"/>
          <p:nvPr/>
        </p:nvSpPr>
        <p:spPr>
          <a:xfrm>
            <a:off x="468086" y="315686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latin typeface="Aptos Display"/>
              </a:rPr>
              <a:t>Literature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1026" y="285523"/>
            <a:ext cx="10032035" cy="520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792"/>
              </a:lnSpc>
              <a:buNone/>
            </a:pPr>
            <a:r>
              <a:rPr lang="en-US" sz="30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The Gaps in Current Lost &amp; Found Processes</a:t>
            </a:r>
            <a:endParaRPr lang="en-US" sz="3000" dirty="0">
              <a:latin typeface="Noto Serif SC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171154" y="1616600"/>
            <a:ext cx="7553451" cy="49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No Automated Matching</a:t>
            </a:r>
          </a:p>
          <a:p>
            <a:pPr marL="285750" indent="-285750">
              <a:lnSpc>
                <a:spcPts val="1875"/>
              </a:lnSpc>
              <a:buFont typeface="Arial"/>
              <a:buChar char="•"/>
            </a:pPr>
            <a:endParaRPr lang="en-US" sz="1800" b="1" dirty="0">
              <a:solidFill>
                <a:srgbClr val="4B4A4A"/>
              </a:solidFill>
              <a:latin typeface="Noto Serif SC Bold"/>
              <a:ea typeface="Noto Serif SC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0270" y="2092479"/>
            <a:ext cx="10587077" cy="4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Lost item reports are not automatically compared against found item reports, relying instead on manual scanning</a:t>
            </a:r>
            <a:r>
              <a:rPr lang="en-US" sz="1800" dirty="0">
                <a:solidFill>
                  <a:srgbClr val="4B4A4A"/>
                </a:solidFill>
                <a:latin typeface="Geist"/>
                <a:ea typeface="Geist"/>
                <a:cs typeface="Geist" pitchFamily="34" charset="-120"/>
              </a:rPr>
              <a:t>.</a:t>
            </a:r>
            <a:endParaRPr lang="en-US" sz="1800" dirty="0">
              <a:latin typeface="Geist"/>
              <a:ea typeface="Geis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0269" y="2713279"/>
            <a:ext cx="416744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Lack of Image Verification</a:t>
            </a:r>
            <a:endParaRPr lang="en-US" sz="1800" b="1" dirty="0" err="1">
              <a:solidFill>
                <a:srgbClr val="4B4A4A"/>
              </a:solidFill>
              <a:latin typeface="Noto Serif SC Bold"/>
              <a:ea typeface="Noto Serif SC Bold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1782" y="3189160"/>
            <a:ext cx="10010134" cy="494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Identification relies solely on subjective textual descriptions, leading to potential disputes or false claims.</a:t>
            </a:r>
            <a:endParaRPr lang="en-US" sz="1800" dirty="0">
              <a:latin typeface="Geist"/>
              <a:ea typeface="Geis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9381" y="3907930"/>
            <a:ext cx="2779528" cy="296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Decentralized Records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71153" y="4307610"/>
            <a:ext cx="10423792" cy="494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Information is scattered across various departments and platforms, making comprehensive searching impossible.</a:t>
            </a:r>
            <a:endParaRPr lang="en-US" sz="1800" dirty="0">
              <a:latin typeface="Geist"/>
              <a:ea typeface="Geist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71153" y="5113465"/>
            <a:ext cx="4284593" cy="26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75"/>
              </a:lnSpc>
              <a:buFont typeface="Arial"/>
              <a:buChar char="•"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Missing Administrative Control</a:t>
            </a:r>
            <a:endParaRPr lang="en-US" sz="1800" b="1" dirty="0">
              <a:latin typeface="Noto Serif SC Bold"/>
              <a:ea typeface="Noto Serif SC Bol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71153" y="5611119"/>
            <a:ext cx="7256050" cy="475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17"/>
              </a:lnSpc>
              <a:buNone/>
            </a:pPr>
            <a:r>
              <a:rPr lang="en-US" sz="1800" dirty="0">
                <a:latin typeface="Geist"/>
                <a:ea typeface="Geist"/>
                <a:cs typeface="Geist" pitchFamily="34" charset="-120"/>
              </a:rPr>
              <a:t>Absence of a formal process for ownership verification and claim approval.</a:t>
            </a:r>
            <a:endParaRPr lang="en-US" sz="1800" dirty="0">
              <a:latin typeface="Geist"/>
              <a:ea typeface="Geist"/>
            </a:endParaRPr>
          </a:p>
        </p:txBody>
      </p:sp>
    </p:spTree>
    <p:extLst>
      <p:ext uri="{BB962C8B-B14F-4D97-AF65-F5344CB8AC3E}">
        <p14:creationId xmlns:p14="http://schemas.microsoft.com/office/powerpoint/2010/main" val="260544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9514" y="1712847"/>
            <a:ext cx="9268378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75"/>
              </a:lnSpc>
              <a:buNone/>
            </a:pPr>
            <a:r>
              <a:rPr lang="en-US" sz="1800" dirty="0">
                <a:latin typeface="Geist"/>
                <a:ea typeface="Geist" pitchFamily="34" charset="-122"/>
                <a:cs typeface="Geist" pitchFamily="34" charset="-120"/>
              </a:rPr>
              <a:t>"Students face difficulty locating lost belongings due to the absence of a verified and centralized digital Lost &amp; Found system within the campus."</a:t>
            </a:r>
            <a:endParaRPr lang="en-US" sz="1800" dirty="0">
              <a:latin typeface="Geist"/>
            </a:endParaRPr>
          </a:p>
        </p:txBody>
      </p:sp>
      <p:sp>
        <p:nvSpPr>
          <p:cNvPr id="5" name="Shape 2"/>
          <p:cNvSpPr/>
          <p:nvPr/>
        </p:nvSpPr>
        <p:spPr>
          <a:xfrm flipH="1">
            <a:off x="447103" y="1346611"/>
            <a:ext cx="59266" cy="1279592"/>
          </a:xfrm>
          <a:prstGeom prst="rect">
            <a:avLst/>
          </a:prstGeom>
          <a:solidFill>
            <a:srgbClr val="006747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99075" y="3431495"/>
            <a:ext cx="827610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75"/>
              </a:lnSpc>
              <a:buNone/>
            </a:pPr>
            <a:r>
              <a:rPr lang="en-US" sz="1800" dirty="0">
                <a:latin typeface="Geist"/>
                <a:ea typeface="Geist" pitchFamily="34" charset="-122"/>
                <a:cs typeface="Geist" pitchFamily="34" charset="-120"/>
              </a:rPr>
              <a:t>The core problem lies in the inefficiency of current systems, where manual or unstructured methods lead to lost records, opportunities for false claims, and substantial user inconvenience. We need a structured platform that guarantees authenticity and efficiency for all stakeholders.</a:t>
            </a:r>
            <a:endParaRPr lang="en-US" sz="1800" dirty="0">
              <a:latin typeface="Geis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74774-3D9F-4512-0DB6-A7FE2F164E00}"/>
              </a:ext>
            </a:extLst>
          </p:cNvPr>
          <p:cNvSpPr txBox="1"/>
          <p:nvPr/>
        </p:nvSpPr>
        <p:spPr>
          <a:xfrm>
            <a:off x="268817" y="130629"/>
            <a:ext cx="6096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>
                <a:latin typeface="Aptos Display"/>
              </a:rPr>
              <a:t>Problem Statement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0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165" y="626963"/>
            <a:ext cx="9012039" cy="548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291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Aptos Display"/>
              </a:rPr>
              <a:t>Objectives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1498750"/>
            <a:ext cx="263128" cy="329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4375" y="1526282"/>
            <a:ext cx="2813149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 pitchFamily="34" charset="-122"/>
                <a:cs typeface="Noto Serif SC Bold" pitchFamily="34" charset="-120"/>
              </a:rPr>
              <a:t>User-Friendly Web Portal</a:t>
            </a:r>
            <a:endParaRPr lang="en-US" sz="1708" dirty="0">
              <a:latin typeface="Aptos" panose="0211000402020202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84374" y="1898004"/>
            <a:ext cx="11007626" cy="26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Develop an intuitive portal for seamless reporting and management of lost and found items by students and </a:t>
            </a:r>
          </a:p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 pitchFamily="34" charset="-122"/>
                <a:cs typeface="Geist" pitchFamily="34" charset="-120"/>
              </a:rPr>
              <a:t>faculty</a:t>
            </a:r>
            <a:r>
              <a:rPr lang="en-US" sz="1350" dirty="0">
                <a:solidFill>
                  <a:srgbClr val="4B4A4A"/>
                </a:solidFill>
                <a:latin typeface="Geist"/>
                <a:ea typeface="Geist" pitchFamily="34" charset="-122"/>
                <a:cs typeface="Geist" pitchFamily="34" charset="-120"/>
              </a:rPr>
              <a:t>.</a:t>
            </a:r>
            <a:endParaRPr lang="en-US" sz="1350" dirty="0">
              <a:latin typeface="Geist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2509888"/>
            <a:ext cx="263128" cy="3290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6403" y="2526535"/>
            <a:ext cx="3926114" cy="32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25"/>
              </a:lnSpc>
            </a:pPr>
            <a:r>
              <a:rPr lang="en-US" sz="1800" b="1">
                <a:ea typeface="+mn-lt"/>
                <a:cs typeface="+mn-lt"/>
              </a:rPr>
              <a:t>Scalable NoSQL (MongoDB) Database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84374" y="2851519"/>
            <a:ext cx="10393462" cy="57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8"/>
              </a:lnSpc>
            </a:pPr>
            <a:r>
              <a:rPr lang="en-US" sz="1600">
                <a:ea typeface="+mn-lt"/>
                <a:cs typeface="+mn-lt"/>
              </a:rPr>
              <a:t>Store all item and user data securely in a robust MongoDB Atlas cloud database, ensuring flexible data retrieval, </a:t>
            </a:r>
            <a:endParaRPr lang="en-US">
              <a:ea typeface="+mn-lt"/>
              <a:cs typeface="+mn-lt"/>
            </a:endParaRPr>
          </a:p>
          <a:p>
            <a:pPr>
              <a:lnSpc>
                <a:spcPts val="2208"/>
              </a:lnSpc>
            </a:pPr>
            <a:r>
              <a:rPr lang="en-US" sz="1600">
                <a:ea typeface="+mn-lt"/>
                <a:cs typeface="+mn-lt"/>
              </a:rPr>
              <a:t>high availability, and long-term record keeping.</a:t>
            </a:r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3521026"/>
            <a:ext cx="263128" cy="3290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4375" y="3548558"/>
            <a:ext cx="3004939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Automated Matching Logic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84374" y="3927971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Implement logic to automate search and matching based on keywords, category, and time, reducing manual effort </a:t>
            </a:r>
          </a:p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and errors.</a:t>
            </a:r>
            <a:endParaRPr lang="en-US" sz="1600" dirty="0">
              <a:latin typeface="Geist"/>
              <a:ea typeface="Geist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4532164"/>
            <a:ext cx="263128" cy="3290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4374" y="4559697"/>
            <a:ext cx="2773858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Authenticity Verification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184374" y="4939110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Establish an admin verification process to thoroughly vet all claims and ensure items are only returned to the </a:t>
            </a:r>
          </a:p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rightful owners.</a:t>
            </a:r>
            <a:endParaRPr lang="en-US" sz="1600" dirty="0">
              <a:latin typeface="Geist"/>
              <a:ea typeface="Geist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6" y="5543302"/>
            <a:ext cx="263128" cy="3290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4374" y="5570835"/>
            <a:ext cx="3412828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5"/>
              </a:lnSpc>
              <a:buNone/>
            </a:pPr>
            <a:r>
              <a:rPr lang="en-US" sz="1800" b="1" dirty="0">
                <a:latin typeface="Noto Serif SC Bold"/>
                <a:ea typeface="Noto Serif SC Bold"/>
                <a:cs typeface="Noto Serif SC Bold" pitchFamily="34" charset="-120"/>
              </a:rPr>
              <a:t>Detailed Reporting &amp; Statistics</a:t>
            </a:r>
            <a:endParaRPr lang="en-US" sz="1800" dirty="0">
              <a:latin typeface="Noto Serif SC Bold"/>
              <a:ea typeface="Noto Serif SC Bold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184374" y="5950248"/>
            <a:ext cx="1039346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8"/>
              </a:lnSpc>
              <a:buNone/>
            </a:pPr>
            <a:r>
              <a:rPr lang="en-US" sz="1600" dirty="0">
                <a:latin typeface="Geist"/>
                <a:ea typeface="Geist"/>
                <a:cs typeface="Geist" pitchFamily="34" charset="-120"/>
              </a:rPr>
              <a:t>Provide administrators with detailed reports to track trends in lost/found items and measure system effectiveness.</a:t>
            </a:r>
            <a:endParaRPr lang="en-US" sz="1600" dirty="0">
              <a:latin typeface="Geist"/>
              <a:ea typeface="Geist"/>
            </a:endParaRPr>
          </a:p>
        </p:txBody>
      </p:sp>
    </p:spTree>
    <p:extLst>
      <p:ext uri="{BB962C8B-B14F-4D97-AF65-F5344CB8AC3E}">
        <p14:creationId xmlns:p14="http://schemas.microsoft.com/office/powerpoint/2010/main" val="395517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32"/>
            <a:ext cx="10515600" cy="1007115"/>
          </a:xfrm>
        </p:spPr>
        <p:txBody>
          <a:bodyPr>
            <a:normAutofit/>
          </a:bodyPr>
          <a:lstStyle/>
          <a:p>
            <a:r>
              <a:rPr lang="en-IN" sz="4000" dirty="0"/>
              <a:t>Proposed Methodology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CEB4F448-DEA7-3C2D-632C-7A6613026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1814" y="811794"/>
            <a:ext cx="6108211" cy="604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67" y="118872"/>
            <a:ext cx="10515600" cy="933980"/>
          </a:xfrm>
        </p:spPr>
        <p:txBody>
          <a:bodyPr/>
          <a:lstStyle/>
          <a:p>
            <a:r>
              <a:rPr lang="en-IN"/>
              <a:t>Result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3634D-C230-81A4-408A-5D90B5BD717E}"/>
              </a:ext>
            </a:extLst>
          </p:cNvPr>
          <p:cNvSpPr txBox="1"/>
          <p:nvPr/>
        </p:nvSpPr>
        <p:spPr>
          <a:xfrm>
            <a:off x="351971" y="1051681"/>
            <a:ext cx="11713027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Website Frontend (UI/UX)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pPr marL="285750" indent="-285750">
              <a:buAutoNum type="arabicPeriod"/>
            </a:pPr>
            <a:r>
              <a:rPr lang="en-US" b="1">
                <a:ea typeface="+mn-lt"/>
                <a:cs typeface="+mn-lt"/>
              </a:rPr>
              <a:t>Seamless User Experience:</a:t>
            </a:r>
            <a:r>
              <a:rPr lang="en-US">
                <a:ea typeface="+mn-lt"/>
                <a:cs typeface="+mn-lt"/>
              </a:rPr>
              <a:t> Developed a responsive and intuitive interface for easy navigation and item reporting.</a:t>
            </a:r>
            <a:endParaRPr lang="en-US"/>
          </a:p>
          <a:p>
            <a:pPr marL="285750" indent="-28575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AutoNum type="arabicPeriod"/>
            </a:pPr>
            <a:r>
              <a:rPr lang="en-US" b="1">
                <a:ea typeface="+mn-lt"/>
                <a:cs typeface="+mn-lt"/>
              </a:rPr>
              <a:t>Real-time Interaction:</a:t>
            </a:r>
            <a:r>
              <a:rPr lang="en-US">
                <a:ea typeface="+mn-lt"/>
                <a:cs typeface="+mn-lt"/>
              </a:rPr>
              <a:t> Users can register, log in, and post lost or found items instantly.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AutoNum type="arabicPeriod"/>
            </a:pPr>
            <a:r>
              <a:rPr lang="en-US" b="1">
                <a:ea typeface="+mn-lt"/>
                <a:cs typeface="+mn-lt"/>
              </a:rPr>
              <a:t>Dynamic Search &amp; Filter:</a:t>
            </a:r>
            <a:r>
              <a:rPr lang="en-US">
                <a:ea typeface="+mn-lt"/>
                <a:cs typeface="+mn-lt"/>
              </a:rPr>
              <a:t> Integrated functionality to filter items by category and location for faster recovery.</a:t>
            </a:r>
            <a:endParaRPr lang="en-US"/>
          </a:p>
          <a:p>
            <a:pPr marL="285750" indent="-285750">
              <a:buAutoNum type="arabicPeriod"/>
            </a:pPr>
            <a:endParaRPr lang="en-US" dirty="0"/>
          </a:p>
          <a:p>
            <a:endParaRPr lang="en-US" dirty="0"/>
          </a:p>
          <a:p>
            <a:r>
              <a:rPr lang="en-US" b="1"/>
              <a:t>                                            1..SIGNUP/ LOGIN PAGE </a:t>
            </a:r>
          </a:p>
          <a:p>
            <a:r>
              <a:rPr lang="en-US" b="1"/>
              <a:t>                                              (USER AUTEHNTICATION)</a:t>
            </a:r>
          </a:p>
          <a:p>
            <a:endParaRPr lang="en-US" dirty="0"/>
          </a:p>
          <a:p>
            <a:pPr algn="ctr"/>
            <a:endParaRPr lang="en-US"/>
          </a:p>
        </p:txBody>
      </p:sp>
      <p:pic>
        <p:nvPicPr>
          <p:cNvPr id="8" name="Picture 7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3D4D6604-EA35-3DC2-C9C9-EE369C033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861" y="3310938"/>
            <a:ext cx="6108349" cy="343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4E58-F311-DCFE-5FB0-E1601144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22</a:t>
            </a:r>
          </a:p>
        </p:txBody>
      </p:sp>
      <p:pic>
        <p:nvPicPr>
          <p:cNvPr id="13" name="Content Placeholder 12" descr="A screenshot of a computer application&#10;&#10;AI-generated content may be incorrect.">
            <a:extLst>
              <a:ext uri="{FF2B5EF4-FFF2-40B4-BE49-F238E27FC236}">
                <a16:creationId xmlns:a16="http://schemas.microsoft.com/office/drawing/2014/main" id="{BB601B31-F8F7-F54C-A72F-7214213DD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909" y="-5450"/>
            <a:ext cx="6424265" cy="39646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E548F0-C3DB-58CC-F7E8-430D4E1DDA90}"/>
              </a:ext>
            </a:extLst>
          </p:cNvPr>
          <p:cNvSpPr txBox="1"/>
          <p:nvPr/>
        </p:nvSpPr>
        <p:spPr>
          <a:xfrm>
            <a:off x="1926168" y="3958167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2.PROFILE SECTION </a:t>
            </a:r>
            <a:endParaRPr lang="en-US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r>
              <a:rPr lang="en-US" b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   (USER DETAILS)</a:t>
            </a:r>
            <a:endParaRPr lang="en-US" sz="1800" b="0" i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0B487B-2DC5-FB5C-5F79-B756609F0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917" y="3424478"/>
            <a:ext cx="6424083" cy="3438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117621-2D61-1454-1DE5-9E6AE3F9E585}"/>
              </a:ext>
            </a:extLst>
          </p:cNvPr>
          <p:cNvSpPr txBox="1"/>
          <p:nvPr/>
        </p:nvSpPr>
        <p:spPr>
          <a:xfrm>
            <a:off x="7577667" y="327025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3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.</a:t>
            </a:r>
            <a:r>
              <a:rPr lang="en-US" b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REPORT LOST ITEMS </a:t>
            </a:r>
            <a:endParaRPr lang="en-US" sz="1800" b="0" i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0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4FED-712E-D037-50DC-38769164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65424D-35C2-B3BA-DD49-7F41E8584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44" y="-5292"/>
            <a:ext cx="6554570" cy="357875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2CEDEB-D432-7EBA-543A-13C409A6E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0" y="3433864"/>
            <a:ext cx="7397750" cy="3419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F01BAB-C3D9-61CE-E29B-12CF32AAC3B5}"/>
              </a:ext>
            </a:extLst>
          </p:cNvPr>
          <p:cNvSpPr txBox="1"/>
          <p:nvPr/>
        </p:nvSpPr>
        <p:spPr>
          <a:xfrm>
            <a:off x="624417" y="357716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ptos"/>
              </a:rPr>
              <a:t>4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</a:rPr>
              <a:t>.REPORT LOST ITEMS 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2A61F-E5BC-2EB5-DB83-501FCF1B4335}"/>
              </a:ext>
            </a:extLst>
          </p:cNvPr>
          <p:cNvSpPr txBox="1"/>
          <p:nvPr/>
        </p:nvSpPr>
        <p:spPr>
          <a:xfrm>
            <a:off x="6720417" y="31115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ptos"/>
              </a:rPr>
              <a:t>5. </a:t>
            </a:r>
            <a:r>
              <a:rPr lang="en-US" b="1">
                <a:solidFill>
                  <a:srgbClr val="000000"/>
                </a:solidFill>
                <a:latin typeface="Aptos"/>
              </a:rPr>
              <a:t>SEARCH ITEM</a:t>
            </a:r>
            <a:r>
              <a:rPr lang="en-US" b="1" dirty="0">
                <a:solidFill>
                  <a:srgbClr val="000000"/>
                </a:solidFill>
                <a:latin typeface="Aptos"/>
              </a:rPr>
              <a:t>S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ptos"/>
              </a:rPr>
              <a:t> 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8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64BB-C598-6115-B091-7CAAE052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5F0094-2A9B-1584-D3C0-768EA1C47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42" y="-3175"/>
            <a:ext cx="7796455" cy="3458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1C6EBF-942C-F672-10D1-CB70927DC414}"/>
              </a:ext>
            </a:extLst>
          </p:cNvPr>
          <p:cNvSpPr txBox="1"/>
          <p:nvPr/>
        </p:nvSpPr>
        <p:spPr>
          <a:xfrm>
            <a:off x="250371" y="3929742"/>
            <a:ext cx="11114312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Backend &amp; Database (Security &amp; Storage)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endParaRPr lang="en-US" sz="2000" dirty="0">
              <a:solidFill>
                <a:srgbClr val="000000"/>
              </a:solidFill>
              <a:latin typeface="Aptos"/>
              <a:ea typeface="Arial"/>
              <a:cs typeface="Segoe UI"/>
            </a:endParaRP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Cloud </a:t>
            </a:r>
            <a:r>
              <a:rPr lang="en-US" sz="18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Database Integration: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Uses </a:t>
            </a:r>
            <a:r>
              <a:rPr lang="en-US" sz="18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MongoDB Atlas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for secure, scalable cloud storage of users, items, and reports</a:t>
            </a:r>
            <a:r>
              <a:rPr lang="en-US" sz="18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1800" b="0" i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ea typeface="+mn-lt"/>
                <a:cs typeface="+mn-lt"/>
              </a:rPr>
              <a:t>Secure </a:t>
            </a:r>
            <a:r>
              <a:rPr lang="en-US" sz="1800" b="1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Authentication: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Passwords </a:t>
            </a:r>
            <a:r>
              <a:rPr lang="en-US" sz="18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are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encrypted using </a:t>
            </a:r>
            <a:r>
              <a:rPr lang="en-US" sz="1800" i="0" u="none" strike="noStrike" baseline="0" dirty="0" err="1">
                <a:solidFill>
                  <a:srgbClr val="000000"/>
                </a:solidFill>
                <a:ea typeface="+mn-lt"/>
                <a:cs typeface="+mn-lt"/>
              </a:rPr>
              <a:t>bcryptjs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hashing to ensure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user data protection</a:t>
            </a:r>
            <a:r>
              <a:rPr lang="en-US" sz="18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RESTful </a:t>
            </a:r>
            <a:r>
              <a:rPr lang="en-US" sz="18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API </a:t>
            </a: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Architecture</a:t>
            </a:r>
            <a:r>
              <a:rPr lang="en-US" sz="1800" b="1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Efficient API communication </a:t>
            </a:r>
            <a:r>
              <a:rPr lang="en-US" sz="18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between frontend and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backend for smooth data handling. 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Deployment on Render: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Backend services are deployed on Render for reliable hosting, continuous deployment, and real-time accessibility</a:t>
            </a:r>
            <a:r>
              <a:rPr lang="en-US" sz="18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.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/>
          </a:p>
          <a:p>
            <a:pPr marL="228600" lvl="0" indent="-228600" algn="l">
              <a:buFont typeface=""/>
              <a:buChar char="•"/>
            </a:pPr>
            <a:endParaRPr lang="en-US" sz="18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922D4-12A6-4417-1F4F-A922A99EFC8C}"/>
              </a:ext>
            </a:extLst>
          </p:cNvPr>
          <p:cNvSpPr txBox="1"/>
          <p:nvPr/>
        </p:nvSpPr>
        <p:spPr>
          <a:xfrm>
            <a:off x="446315" y="345077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ptos"/>
              </a:rPr>
              <a:t>6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</a:rPr>
              <a:t>.</a:t>
            </a:r>
            <a:r>
              <a:rPr lang="en-US" b="1">
                <a:solidFill>
                  <a:srgbClr val="000000"/>
                </a:solidFill>
                <a:latin typeface="Aptos"/>
              </a:rPr>
              <a:t> NOTIFICATION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2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63" y="-166270"/>
            <a:ext cx="10515600" cy="1325563"/>
          </a:xfrm>
        </p:spPr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67BEB2-2AC2-3945-E11D-634CB70BB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963" y="1163889"/>
            <a:ext cx="10515600" cy="522362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/>
              <a:t>Successful Digitalization :</a:t>
            </a:r>
            <a:r>
              <a:rPr lang="en-US" dirty="0"/>
              <a:t> Successfully replaced inefficient, paper-based processes with a modern, fast, and user-friendly web application.</a:t>
            </a:r>
          </a:p>
          <a:p>
            <a:endParaRPr lang="en-US" dirty="0"/>
          </a:p>
          <a:p>
            <a:r>
              <a:rPr lang="en-US" b="1" dirty="0"/>
              <a:t>Enhanced Student Experience:</a:t>
            </a:r>
            <a:r>
              <a:rPr lang="en-US" dirty="0"/>
              <a:t> Reduced the stress and time required for students to report or search for lost property, improving overall campus morale.</a:t>
            </a:r>
          </a:p>
          <a:p>
            <a:endParaRPr lang="en-US" dirty="0"/>
          </a:p>
          <a:p>
            <a:r>
              <a:rPr lang="en-US" b="1" dirty="0"/>
              <a:t>Seamless Information Flow:</a:t>
            </a:r>
            <a:r>
              <a:rPr lang="en-US" dirty="0"/>
              <a:t> Implemented a single-page Dashboard interface ensuring rapid navigation between key actions: Searching, Reporting Lost, and Reporting Found items.</a:t>
            </a:r>
          </a:p>
          <a:p>
            <a:endParaRPr lang="en-US" dirty="0"/>
          </a:p>
          <a:p>
            <a:r>
              <a:rPr lang="en-US" b="1" dirty="0"/>
              <a:t>Integrated Security:</a:t>
            </a:r>
            <a:r>
              <a:rPr lang="en-US" dirty="0"/>
              <a:t> Incorporated robust client-side validation for login and detailed personal profile integration (Reg. No., Contact, Course) via a Modal Pop-up to streamline verification during the claim process.</a:t>
            </a:r>
          </a:p>
          <a:p>
            <a:endParaRPr lang="en-US" dirty="0"/>
          </a:p>
          <a:p>
            <a:r>
              <a:rPr lang="en-US" b="1" dirty="0"/>
              <a:t>Future-Ready Platform:</a:t>
            </a:r>
            <a:r>
              <a:rPr lang="en-US" dirty="0"/>
              <a:t> The modular design (using HTML, CSS, and JS) allows for easy integration with future database/backend systems for scaling and permanent data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42875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465792"/>
            <a:ext cx="11171766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[1] S. Kumar et al., “Web-Based Lost and Found System,” MIT International Journal of Computer Science and Information Technology, vol. 11, no. 1, Dec. 2022.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IN"/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[2] S. Y. Tan and C. R. Chong, “An Effective Lost and Found System in University Campus,” Journal of Information System and Technology Management, 2023.</a:t>
            </a:r>
          </a:p>
          <a:p>
            <a:pPr>
              <a:buFont typeface="Arial"/>
              <a:buChar char="•"/>
            </a:pPr>
            <a:endParaRPr lang="en-IN"/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[3] “Digital Lost and Found Item Portal,” International Research Journal of Engineering and Technology (IRJET), vol. 10, no. 11, 2023.</a:t>
            </a:r>
          </a:p>
          <a:p>
            <a:pPr>
              <a:buFont typeface="Arial"/>
              <a:buChar char="•"/>
            </a:pPr>
            <a:endParaRPr lang="en-IN"/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[4] “Lost and Found System for VNR VJIET,” International Journal of Engineering Research &amp; Technology (IJERT), vol. 11, no. 6, 2022.</a:t>
            </a:r>
          </a:p>
          <a:p>
            <a:pPr>
              <a:buFont typeface="Arial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034" y="2480884"/>
            <a:ext cx="332104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825</Words>
  <Application>Microsoft Office PowerPoint</Application>
  <PresentationFormat>Widescreen</PresentationFormat>
  <Paragraphs>117</Paragraphs>
  <Slides>16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UNI LOST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Methodology</vt:lpstr>
      <vt:lpstr>Result </vt:lpstr>
      <vt:lpstr>22</vt:lpstr>
      <vt:lpstr>PowerPoint Presentation</vt:lpstr>
      <vt:lpstr>PowerPoint Presentation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AANYA JAIN</cp:lastModifiedBy>
  <cp:revision>622</cp:revision>
  <dcterms:created xsi:type="dcterms:W3CDTF">2025-09-29T05:03:41Z</dcterms:created>
  <dcterms:modified xsi:type="dcterms:W3CDTF">2026-04-13T18:47:13Z</dcterms:modified>
</cp:coreProperties>
</file>